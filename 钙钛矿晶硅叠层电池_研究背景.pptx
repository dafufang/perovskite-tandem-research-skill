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1874519"/>
            <a:ext cx="2651760" cy="86868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2520" y="2788920"/>
            <a:ext cx="2651760" cy="256032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3090672"/>
            <a:ext cx="2651760" cy="12344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20" y="4370832"/>
            <a:ext cx="2651760" cy="201168"/>
          </a:xfrm>
          <a:prstGeom prst="rect">
            <a:avLst/>
          </a:prstGeom>
          <a:solidFill>
            <a:srgbClr val="8A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7112" y="21396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宽带隙钙钛矿  顶电池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7112" y="27614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34A5C"/>
                </a:solidFill>
                <a:latin typeface="Microsoft YaHei"/>
                <a:ea typeface="Microsoft YaHei"/>
              </a:rPr>
              <a:t>隧穿/复合结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7112" y="3520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晶硅  底电池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3716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88A1E"/>
                </a:solidFill>
                <a:latin typeface="Microsoft YaHei"/>
                <a:ea typeface="Microsoft YaHei"/>
              </a:rPr>
              <a:t>下 下 下  太阳光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88A1E"/>
                </a:solidFill>
                <a:latin typeface="Arial"/>
                <a:ea typeface="Arial"/>
              </a:rPr>
              <a:t>RESEARCH 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7680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钙钛矿/晶硅叠层太阳电池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</a:pPr>
            <a:r>
              <a:rPr sz="2000" b="0" i="0">
                <a:solidFill>
                  <a:srgbClr val="BFD2E2"/>
                </a:solidFill>
                <a:latin typeface="Microsoft YaHei"/>
                <a:ea typeface="Microsoft YaHei"/>
              </a:rPr>
              <a:t>突破单结极限的下一代光伏技术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4617720"/>
            <a:ext cx="6949440" cy="0"/>
          </a:xfrm>
          <a:prstGeom prst="bentConnector3">
            <a:avLst/>
          </a:prstGeom>
          <a:ln w="15240">
            <a:solidFill>
              <a:srgbClr val="3A5A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8006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D7E3"/>
                </a:solidFill>
                <a:latin typeface="Microsoft YaHei"/>
                <a:ea typeface="Microsoft YaHei"/>
              </a:rPr>
              <a:t>面向项目立项与研发汇报  ·  技术背景综述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 i="0">
                <a:solidFill>
                  <a:srgbClr val="9AB2C6"/>
                </a:solidFill>
                <a:latin typeface="Microsoft YaHei"/>
                <a:ea typeface="Microsoft YaHei"/>
              </a:rPr>
              <a:t>认证效率 · 器件结构 · 关键挑战 · 产业化进展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7AB"/>
                </a:solidFill>
                <a:latin typeface="Microsoft YaHei"/>
                <a:ea typeface="Microsoft YaHei"/>
              </a:rPr>
              <a:t>数据截至 2026 年 6 月 · 效率均以 NREL/官方认证口径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D59"/>
                </a:solidFill>
                <a:latin typeface="Arial"/>
                <a:ea typeface="Arial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汇报结构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82880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C6EA8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28800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为什么要做叠层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单结硅电池逼近理论极限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9736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59736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C6EA8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59736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叠层的物理原理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459736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光谱分配与带隙匹配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90672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90672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C6EA8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090672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器件结构与工艺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90672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2T 单片集成的核心模块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21608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21608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C6EA8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21608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效率进展与记录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72160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已突破 34.85%(NREL 认证)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52544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52544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C6EA8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352544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关键技术挑战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352544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宽带隙稳定性 · 大面积 · 可靠性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8348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98348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C6EA8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983480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产业化与竞争格局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98348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从实验室到组件量产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14416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614416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C6EA8"/>
                </a:solidFill>
                <a:latin typeface="Arial"/>
                <a:ea typeface="Arial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614416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路线对比与展望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614416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2T vs 4T · 钙钛矿/硅 vs 全钙钛矿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8B"/>
                </a:solidFill>
                <a:latin typeface="Arial"/>
                <a:ea typeface="Arial"/>
              </a:rPr>
              <a:t>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单结硅电池已逼近理论极限,继续提效空间有限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37360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8B8B"/>
                </a:solidFill>
                <a:latin typeface="Microsoft YaHei"/>
                <a:ea typeface="Microsoft YaHei"/>
              </a:rPr>
              <a:t>单结晶硅的天花板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</a:rPr>
              <a:t>理论极限 ~29.4%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受 Shockley-Queisser 限制,单一带隙无法同时减少热化损失与透射损失。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</a:rPr>
              <a:t>实验室 ~27%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晶硅单结实验室纪录已达 ~26.8%,工程逼近物理极限。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</a:rPr>
              <a:t>量产 ~24-26%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主流 TOPCon/HJT 组件提效进入瓶颈,降本边际收益递减。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737360"/>
            <a:ext cx="5669280" cy="35661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D59"/>
                </a:solidFill>
                <a:latin typeface="Microsoft YaHei"/>
                <a:ea typeface="Microsoft YaHei"/>
              </a:rPr>
              <a:t>入射太阳能的去向(单结硅)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95728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有效转换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51760"/>
            <a:ext cx="3017520" cy="384048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</a:rPr>
              <a:t>27%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热化损失(高能光子)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64992"/>
            <a:ext cx="3688080" cy="384048"/>
          </a:xfrm>
          <a:prstGeom prst="roundRect">
            <a:avLst>
              <a:gd name="adj" fmla="val 6000"/>
            </a:avLst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64992"/>
            <a:ext cx="3688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</a:rPr>
              <a:t>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22192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透射损失(低能光子)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78224"/>
            <a:ext cx="2123440" cy="384048"/>
          </a:xfrm>
          <a:prstGeom prst="roundRect">
            <a:avLst>
              <a:gd name="adj" fmla="val 6000"/>
            </a:avLst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78224"/>
            <a:ext cx="2123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</a:rPr>
              <a:t>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5354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其他光学/电学损失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791456"/>
            <a:ext cx="2346960" cy="384048"/>
          </a:xfrm>
          <a:prstGeom prst="roundRect">
            <a:avLst>
              <a:gd name="adj" fmla="val 6000"/>
            </a:avLst>
          </a:prstGeom>
          <a:solidFill>
            <a:srgbClr val="6B7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791456"/>
            <a:ext cx="2346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</a:rPr>
              <a:t>21%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8B8B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约 50% 的入射能量因单一带隙而损失;用两个带隙分段吸收,是绕开 S-Q 限制的根本途径。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效率口径:晶硅单结实验室纪录 ~26.8%;损失占比为示意性数量级,非精确测量值。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C6EA8"/>
                </a:solidFill>
                <a:latin typeface="Arial"/>
                <a:ea typeface="Arial"/>
              </a:rPr>
              <a:t>02 ·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叠层用两个带隙分段吸收太阳光谱,降低热化与透射损失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37360"/>
            <a:ext cx="5486400" cy="36118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D59"/>
                </a:solidFill>
                <a:latin typeface="Microsoft YaHei"/>
                <a:ea typeface="Microsoft YaHei"/>
              </a:rPr>
              <a:t>太阳光谱的分段吸收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2286000" cy="2468880"/>
          </a:xfrm>
          <a:prstGeom prst="rect">
            <a:avLst/>
          </a:prstGeom>
          <a:solidFill>
            <a:srgbClr val="D6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2423160"/>
            <a:ext cx="2286000" cy="2468880"/>
          </a:xfrm>
          <a:prstGeom prst="rect">
            <a:avLst/>
          </a:prstGeom>
          <a:solidFill>
            <a:srgbClr val="D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C6EA8"/>
                </a:solidFill>
                <a:latin typeface="Microsoft YaHei"/>
                <a:ea typeface="Microsoft YaHei"/>
              </a:rPr>
              <a:t>顶电池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宽带隙钙钛矿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</a:pPr>
            <a:r>
              <a:rPr sz="1100" b="1" i="0">
                <a:solidFill>
                  <a:srgbClr val="2C6EA8"/>
                </a:solidFill>
                <a:latin typeface="Arial"/>
                <a:ea typeface="Arial"/>
              </a:rPr>
              <a:t>Eg ~ 1.68 eV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</a:pPr>
            <a:r>
              <a:rPr sz="1000" b="0" i="0">
                <a:solidFill>
                  <a:srgbClr val="6B7076"/>
                </a:solidFill>
                <a:latin typeface="Microsoft YaHei"/>
                <a:ea typeface="Microsoft YaHei"/>
              </a:rPr>
              <a:t>吸收蓝/绿光(高能光子)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8B"/>
                </a:solidFill>
                <a:latin typeface="Microsoft YaHei"/>
                <a:ea typeface="Microsoft YaHei"/>
              </a:rPr>
              <a:t>底电池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晶硅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</a:pPr>
            <a:r>
              <a:rPr sz="1100" b="1" i="0">
                <a:solidFill>
                  <a:srgbClr val="2E8B8B"/>
                </a:solidFill>
                <a:latin typeface="Arial"/>
                <a:ea typeface="Arial"/>
              </a:rPr>
              <a:t>Eg ~ 1.12 eV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</a:pPr>
            <a:r>
              <a:rPr sz="1000" b="0" i="0">
                <a:solidFill>
                  <a:srgbClr val="6B7076"/>
                </a:solidFill>
                <a:latin typeface="Microsoft YaHei"/>
                <a:ea typeface="Microsoft YaHei"/>
              </a:rPr>
              <a:t>吸收红/近红外(低能光子)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303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</a:rPr>
              <a:t>-  分段吸收降低热化损失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高能光子由宽带隙顶电池吸收,减少多余能量以热的形式浪费。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</a:rPr>
              <a:t>-  拓展光谱利用范围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低能光子穿透顶电池,由晶硅底电池继续吸收,减少透射损失。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</a:rPr>
              <a:t>-  电压可加和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两个子电池串联,开路电压近似相加,Voc 可达 ~1.9-2.0 V。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</a:rPr>
              <a:t>-  理论极限大幅抬升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双结理论效率上限 ~43-46%,远高于单结的 ~29-33%。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C6EA8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叠层的本质:让合适能量的光子打在合适带隙的电池上,从根本上提升光电转换上限。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带隙数值为典型值;两端(2T)结构下子电池需电流匹配,详见后页。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D59"/>
                </a:solidFill>
                <a:latin typeface="Arial"/>
                <a:ea typeface="Arial"/>
              </a:rPr>
              <a:t>03 ·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单片两端(2T)叠层:在晶硅上逐层构筑钙钛矿顶电池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27632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D59"/>
                </a:solidFill>
                <a:latin typeface="Microsoft YaHei"/>
                <a:ea typeface="Microsoft YaHei"/>
              </a:rPr>
              <a:t>典型 2T 单片叠层层结构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754880" cy="365760"/>
          </a:xfrm>
          <a:prstGeom prst="rect">
            <a:avLst/>
          </a:prstGeom>
          <a:solidFill>
            <a:srgbClr val="8A9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金属栅线 / 透明电极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14560"/>
            <a:ext cx="4754880" cy="329184"/>
          </a:xfrm>
          <a:prstGeom prst="rect">
            <a:avLst/>
          </a:prstGeom>
          <a:solidFill>
            <a:srgbClr val="BF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14560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</a:rPr>
              <a:t>电子传输层 (ETL)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3744"/>
            <a:ext cx="4754880" cy="566928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3744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宽带隙钙钛矿吸收层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0672"/>
            <a:ext cx="4754880" cy="329184"/>
          </a:xfrm>
          <a:prstGeom prst="rect">
            <a:avLst/>
          </a:prstGeom>
          <a:solidFill>
            <a:srgbClr val="BF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0672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</a:rPr>
              <a:t>空穴传输层 (HTL)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99856"/>
            <a:ext cx="4754880" cy="384048"/>
          </a:xfrm>
          <a:prstGeom prst="rect">
            <a:avLst/>
          </a:prstGeom>
          <a:solidFill>
            <a:srgbClr val="D8B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99856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</a:rPr>
              <a:t>隧穿 / 复合结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03904"/>
            <a:ext cx="4754880" cy="7772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03904"/>
            <a:ext cx="438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晶硅底电池 (SHJ/TOPCon)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01144"/>
            <a:ext cx="4754880" cy="329184"/>
          </a:xfrm>
          <a:prstGeom prst="rect">
            <a:avLst/>
          </a:prstGeom>
          <a:solidFill>
            <a:srgbClr val="6B7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01144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背场 / 背电极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13716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88A1E"/>
                </a:solidFill>
                <a:latin typeface="Microsoft YaHei"/>
                <a:ea typeface="Microsoft YaHei"/>
              </a:rPr>
              <a:t>☀ 入射光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783080"/>
            <a:ext cx="5852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顶电池:宽带隙钙钛矿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通过 Br/I 配比与添加剂调控带隙至 ~1.65–1.70 eV,匹配硅底电池。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互连:隧穿/复合结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实现两子电池低电阻串联,载流子在此复合,是电流匹配的关键。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底电池:晶硅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SHJ 异质结因表面钝化好、温度系数低,是主流叠层底电池选择。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陷光:绒面 vs 平面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硅绒面利于陷光但增加顶层共形镀膜难度,工艺与光学需折中。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工艺:溶液 vs 气相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旋涂/狭缝涂布成本低但大面积均匀性难;共蒸发更易共形覆盖绒面。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D59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叠层不是简单堆叠:互连结、带隙匹配、陷光与大面积镀膜共同决定器件成败。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SHJ=硅异质结;ETL/HTL=电子/空穴传输层。结构为代表性示意,各家工艺不同。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88A1E"/>
                </a:solidFill>
                <a:latin typeface="Arial"/>
                <a:ea typeface="Arial"/>
              </a:rPr>
              <a:t>04 ·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叠层已突破 34.85%,显著超越单结硅的物理极限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920240"/>
            <a:ext cx="676656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22960" y="5303520"/>
            <a:ext cx="6766560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88136" y="3141163"/>
            <a:ext cx="822960" cy="2162357"/>
          </a:xfrm>
          <a:prstGeom prst="rect">
            <a:avLst/>
          </a:prstGeom>
          <a:solidFill>
            <a:srgbClr val="6B7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75403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076"/>
                </a:solidFill>
                <a:latin typeface="Arial"/>
                <a:ea typeface="Arial"/>
              </a:rPr>
              <a:t>~29.4%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37667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Microsoft YaHei"/>
                <a:ea typeface="Microsoft YaHei"/>
              </a:rPr>
              <a:t>单结硅
理论极限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3332392"/>
            <a:ext cx="822960" cy="19711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2966632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8B"/>
                </a:solidFill>
                <a:latin typeface="Arial"/>
                <a:ea typeface="Arial"/>
              </a:rPr>
              <a:t>26.8%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537667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Microsoft YaHei"/>
                <a:ea typeface="Microsoft YaHei"/>
              </a:rPr>
              <a:t>晶硅单结
实验室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3321360"/>
            <a:ext cx="822960" cy="198216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9556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C6EA8"/>
                </a:solidFill>
                <a:latin typeface="Arial"/>
                <a:ea typeface="Arial"/>
              </a:rPr>
              <a:t>26.95%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37667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Microsoft YaHei"/>
                <a:ea typeface="Microsoft YaHei"/>
              </a:rPr>
              <a:t>钙钛矿单结
实验室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8072" y="2740318"/>
            <a:ext cx="822960" cy="2563202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374558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88A1E"/>
                </a:solidFill>
                <a:latin typeface="Arial"/>
                <a:ea typeface="Arial"/>
              </a:rPr>
              <a:t>34.85%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537667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Microsoft YaHei"/>
                <a:ea typeface="Microsoft YaHei"/>
              </a:rPr>
              <a:t>钙钛矿/硅
叠层纪录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1384" y="2140889"/>
            <a:ext cx="822960" cy="3162631"/>
          </a:xfrm>
          <a:prstGeom prst="rect">
            <a:avLst/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1775129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076"/>
                </a:solidFill>
                <a:latin typeface="Arial"/>
                <a:ea typeface="Arial"/>
              </a:rPr>
              <a:t>~43%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537667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Microsoft YaHei"/>
                <a:ea typeface="Microsoft YaHei"/>
              </a:rPr>
              <a:t>叠层
理论极限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92024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2103120"/>
            <a:ext cx="3108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D59"/>
                </a:solidFill>
                <a:latin typeface="Microsoft YaHei"/>
                <a:ea typeface="Microsoft YaHei"/>
              </a:rPr>
              <a:t>当前认证纪录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400" b="1" i="0">
                <a:solidFill>
                  <a:srgbClr val="D88A1E"/>
                </a:solidFill>
                <a:latin typeface="Arial"/>
                <a:ea typeface="Arial"/>
              </a:rPr>
              <a:t>34.85%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钙钛矿/晶硅叠层 · 单片 2T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LONGi 隆基 · 2025.04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 i="0">
                <a:solidFill>
                  <a:srgbClr val="2E8B8B"/>
                </a:solidFill>
                <a:latin typeface="Microsoft YaHei"/>
                <a:ea typeface="Microsoft YaHei"/>
              </a:rPr>
              <a:t>NREL 认证 · 面积 1.0 cm²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400"/>
              </a:spcAft>
            </a:pPr>
            <a:r>
              <a:rPr sz="1050" b="1" i="0">
                <a:solidFill>
                  <a:srgbClr val="143D59"/>
                </a:solidFill>
                <a:latin typeface="Microsoft YaHei"/>
                <a:ea typeface="Microsoft YaHei"/>
              </a:rPr>
              <a:t>对照其他纪录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全钙钛矿叠层  30.1%(2024)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叠层组件(住宅尺寸) 26.9%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599" y="4160520"/>
            <a:ext cx="3108960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88A1E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叠层实验室纪录较硅单结绝对值高出约 8 个百分点,且仍在快速刷新。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来源:NREL Best Research-Cell Efficiency 数据(经 Fluxim/LONGi 汇编)。34.85% 为 NREL 认证、1.0 cm²、单片 2T;另有约 35%(ESTI)尚未公开独立认证报告。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3A32"/>
                </a:solidFill>
                <a:latin typeface="Arial"/>
                <a:ea typeface="Arial"/>
              </a:rPr>
              <a:t>04 ·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看懂效率数字:认证口径与面积/测量方式必须区分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" cy="1078992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49834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认证 vs 自报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NREL/ESTI/JET 等第三方认证 ≠ 企业新闻稿自报值。立项引用应以认证为准。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828800"/>
            <a:ext cx="73152" cy="1078992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938528"/>
            <a:ext cx="49834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面积口径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实验室小面积(~1 cm²)≠ 组件面积。面积越大,效率通常越低。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72384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72384"/>
            <a:ext cx="73152" cy="1078992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82112"/>
            <a:ext cx="49834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扫描 vs 稳态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正反扫 PCE 可能高于 MPP 稳态输出;钙钛矿存在迟滞,需看稳定输出。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072384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072384"/>
            <a:ext cx="73152" cy="1078992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182112"/>
            <a:ext cx="49834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电池 vs 组件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单片小电池纪录 34.85% ≠ 可量产组件。组件纪录约 26–27%(住宅尺寸)。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15968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15968"/>
            <a:ext cx="73152" cy="1078992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425696"/>
            <a:ext cx="49834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初始 vs 服役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初始效率高 ≠ 长期可靠。需结合 IEC 加速老化与户外发电量评估。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315968"/>
            <a:ext cx="5440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315968"/>
            <a:ext cx="73152" cy="1078992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4425696"/>
            <a:ext cx="49834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STC vs 户外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实验室 STC 结果 ≠ 实际户外能量产出(受温度、光谱、弱光影响)。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53A32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研发汇报中引用效率时,务必标注‘认证机构 + 面积 + 电池/组件 + 测量方式’四要素。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3A32"/>
                </a:solidFill>
                <a:latin typeface="Arial"/>
                <a:ea typeface="Arial"/>
              </a:rPr>
              <a:t>05 ·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从纪录到量产:三大类关键挑战仍待突破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3584448" cy="3520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84448" cy="640080"/>
          </a:xfrm>
          <a:prstGeom prst="roundRect">
            <a:avLst>
              <a:gd name="adj" fmla="val 6000"/>
            </a:avLst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584448" cy="2286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1272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宽带隙钙钛矿稳定性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03580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卤素相分离(光致 Br/I 偏析)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开路电压损失大、Voc 亏损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界面与体相缺陷复合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28800"/>
            <a:ext cx="3584448" cy="3520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584448" cy="640080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240280"/>
            <a:ext cx="3584448" cy="2286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28800"/>
            <a:ext cx="31272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大面积与均匀性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97480"/>
            <a:ext cx="303580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绒面硅上共形镀膜难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溶液法大面积均匀性差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电池→组件效率落差明显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828800"/>
            <a:ext cx="3584448" cy="3520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4" y="1828800"/>
            <a:ext cx="3584448" cy="640080"/>
          </a:xfrm>
          <a:prstGeom prst="roundRect">
            <a:avLst>
              <a:gd name="adj" fmla="val 6000"/>
            </a:avLst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4" y="2240280"/>
            <a:ext cx="3584448" cy="228600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828800"/>
            <a:ext cx="31272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长期可靠性与产业链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697480"/>
            <a:ext cx="303580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湿/热/光照与离子迁移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封装与 IEC 加速老化达标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▪ 设备、良率与成本曲线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B5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53A32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效率已领先,但‘稳定性 + 大面积 + 可靠性’三道关卡决定能否真正产业化。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C6EA8"/>
                </a:solidFill>
                <a:latin typeface="Arial"/>
                <a:ea typeface="Arial"/>
              </a:rPr>
              <a:t>05 ·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核心瓶颈:宽带隙钙钛矿的相分离与电压损失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C6EA8"/>
                </a:solidFill>
                <a:latin typeface="Microsoft YaHei"/>
                <a:ea typeface="Microsoft YaHei"/>
              </a:rPr>
              <a:t>问题来源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7076"/>
                </a:solidFill>
                <a:latin typeface="Microsoft YaHei"/>
                <a:ea typeface="Microsoft YaHei"/>
              </a:rPr>
              <a:t>为匹配硅(~1.12 eV),顶电池需将带隙拉宽到 ~1.65–1.70 eV,需提高 Br 含量;高 Br 钙钛矿在光照下易发生卤素偏析。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1" i="0">
                <a:solidFill>
                  <a:srgbClr val="2C6EA8"/>
                </a:solidFill>
                <a:latin typeface="Microsoft YaHei"/>
                <a:ea typeface="Microsoft YaHei"/>
              </a:rPr>
              <a:t>带来的后果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相分离形成低带隙富 I 区,成为复合中心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开路电压(Voc)亏损增大,限制叠层电压加和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界面缺陷加速离子迁移,影响长期稳定性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3D59"/>
                </a:solidFill>
                <a:latin typeface="Microsoft YaHei"/>
                <a:ea typeface="Microsoft YaHei"/>
              </a:rPr>
              <a:t>主流应对策略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1. 成分工程</a:t>
            </a:r>
          </a:p>
          <a:p>
            <a:pPr algn="l" lvl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组分调控、阳离子/卤素配比优化抑制偏析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2. 添加剂与钝化</a:t>
            </a:r>
          </a:p>
          <a:p>
            <a:pPr algn="l" lvl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引入添加剂、界面钝化降低缺陷密度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3. 界面与传输层</a:t>
            </a:r>
          </a:p>
          <a:p>
            <a:pPr algn="l" lvl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自组装单分子层(SAM)等改善能级对齐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4. 2D/3D 异质结构</a:t>
            </a:r>
          </a:p>
          <a:p>
            <a:pPr algn="l" lvl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表面 2D 层抑制离子迁移、提升稳定性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C6EA8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宽带隙顶电池的稳定性与电压损失,是当前叠层研发投入的主战场。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机理与策略为领域共识性综述,非特定文献定量结论;具体方案需结合自有体系验证。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8B"/>
                </a:solidFill>
                <a:latin typeface="Arial"/>
                <a:ea typeface="Arial"/>
              </a:rPr>
              <a:t>06 ·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产业化已起步:从中试线走向商业组件交付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" y="2377440"/>
            <a:ext cx="10515600" cy="0"/>
          </a:xfrm>
          <a:prstGeom prst="bentConnector3">
            <a:avLst/>
          </a:prstGeom>
          <a:ln w="38100">
            <a:solidFill>
              <a:srgbClr val="C9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018538" y="2258568"/>
            <a:ext cx="237744" cy="237744"/>
          </a:xfrm>
          <a:prstGeom prst="ellipse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0130" y="160020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C6EA8"/>
                </a:solidFill>
                <a:latin typeface="Arial"/>
                <a:ea typeface="Arial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690" y="2697480"/>
            <a:ext cx="2377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实验室纪录
持续刷新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顶/底电池工艺与互连结快速迭代</a:t>
            </a:r>
          </a:p>
        </p:txBody>
      </p:sp>
      <p:sp>
        <p:nvSpPr>
          <p:cNvPr id="10" name="Oval 9"/>
          <p:cNvSpPr/>
          <p:nvPr/>
        </p:nvSpPr>
        <p:spPr>
          <a:xfrm>
            <a:off x="4647438" y="2258568"/>
            <a:ext cx="237744" cy="237744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9030" y="160020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8B8B"/>
                </a:solidFill>
                <a:latin typeface="Arial"/>
                <a:ea typeface="Arial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7590" y="2697480"/>
            <a:ext cx="2377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首批商业组件
开始交付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Oxford PV 出货首批叠层组件</a:t>
            </a:r>
          </a:p>
        </p:txBody>
      </p:sp>
      <p:sp>
        <p:nvSpPr>
          <p:cNvPr id="13" name="Oval 12"/>
          <p:cNvSpPr/>
          <p:nvPr/>
        </p:nvSpPr>
        <p:spPr>
          <a:xfrm>
            <a:off x="7276338" y="2258568"/>
            <a:ext cx="237744" cy="237744"/>
          </a:xfrm>
          <a:prstGeom prst="ellipse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7930" y="160020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8A1E"/>
                </a:solidFill>
                <a:latin typeface="Arial"/>
                <a:ea typeface="Arial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6490" y="2697480"/>
            <a:ext cx="2377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电池纪录
34.85%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LONGi 大面积叠层 NREL 认证</a:t>
            </a:r>
          </a:p>
        </p:txBody>
      </p:sp>
      <p:sp>
        <p:nvSpPr>
          <p:cNvPr id="16" name="Oval 15"/>
          <p:cNvSpPr/>
          <p:nvPr/>
        </p:nvSpPr>
        <p:spPr>
          <a:xfrm>
            <a:off x="9905238" y="2258568"/>
            <a:ext cx="237744" cy="237744"/>
          </a:xfrm>
          <a:prstGeom prst="ellipse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6830" y="160020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3D59"/>
                </a:solidFill>
                <a:latin typeface="Arial"/>
                <a:ea typeface="Arial"/>
              </a:rPr>
              <a:t>2026+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5390" y="2697480"/>
            <a:ext cx="2377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中试→量产
爬坡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良率、稳定性与成本曲线成关键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46320"/>
            <a:ext cx="3456432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846320"/>
            <a:ext cx="73152" cy="914400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88A1E"/>
                </a:solidFill>
                <a:latin typeface="Arial"/>
                <a:ea typeface="Arial"/>
              </a:rPr>
              <a:t>34.85%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46320"/>
            <a:ext cx="15361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076"/>
                </a:solidFill>
                <a:latin typeface="Microsoft YaHei"/>
                <a:ea typeface="Microsoft YaHei"/>
              </a:rPr>
              <a:t>电池实验室纪录
(NREL,2025)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4846320"/>
            <a:ext cx="3456432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5424" y="4846320"/>
            <a:ext cx="73152" cy="9144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484632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E8B8B"/>
                </a:solidFill>
                <a:latin typeface="Arial"/>
                <a:ea typeface="Arial"/>
              </a:rPr>
              <a:t>26.9%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846320"/>
            <a:ext cx="15361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076"/>
                </a:solidFill>
                <a:latin typeface="Microsoft YaHei"/>
                <a:ea typeface="Microsoft YaHei"/>
              </a:rPr>
              <a:t>住宅尺寸组件纪录
(Oxford PV)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4846320"/>
            <a:ext cx="3456432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4846320"/>
            <a:ext cx="73152" cy="9144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484632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43D59"/>
                </a:solidFill>
                <a:latin typeface="Arial"/>
                <a:ea typeface="Arial"/>
              </a:rPr>
              <a:t>&gt;30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4846320"/>
            <a:ext cx="15361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076"/>
                </a:solidFill>
                <a:latin typeface="Microsoft YaHei"/>
                <a:ea typeface="Microsoft YaHei"/>
              </a:rPr>
              <a:t>行业目标服役寿命
(对标晶硅组件)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来源:LONGi、Oxford PV 公开信息及行业报道。组件纪录与电池纪录口径不同,&gt;30 年为行业目标非已实现值。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D59"/>
                </a:solidFill>
                <a:latin typeface="Arial"/>
                <a:ea typeface="Arial"/>
              </a:rPr>
              <a:t>06 ·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竞争格局:头部企业与科研机构并跑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86868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企业 · 叠层电池/组件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3931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C6EA8"/>
                </a:solidFill>
                <a:latin typeface="Microsoft YaHei"/>
                <a:ea typeface="Microsoft YaHei"/>
              </a:rPr>
              <a:t>隆基 LONGi、Oxford PV、晶科、通威、华晟等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611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以晶硅龙头延伸叠层,主攻量产工艺与组件可靠性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07208"/>
            <a:ext cx="91440" cy="8686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807208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初创 · 全钙钛矿/叠层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807208"/>
            <a:ext cx="3931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8B8B"/>
                </a:solidFill>
                <a:latin typeface="Microsoft YaHei"/>
                <a:ea typeface="Microsoft YaHei"/>
              </a:rPr>
              <a:t>Renshine(仁烁)、纤纳、协鑫光电等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807208"/>
            <a:ext cx="3611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聚焦钙钛矿核心工艺,全钙钛矿与硅叠层并行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85616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85616"/>
            <a:ext cx="91440" cy="868680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785616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科研机构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785616"/>
            <a:ext cx="3931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88A1E"/>
                </a:solidFill>
                <a:latin typeface="Microsoft YaHei"/>
                <a:ea typeface="Microsoft YaHei"/>
              </a:rPr>
              <a:t>EPFL、Helmholtz Berlin(HZB)、KAUST、NUS、中国高校等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785616"/>
            <a:ext cx="3611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贡献多项世界纪录,主攻机理、界面与稳定性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64024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64024"/>
            <a:ext cx="91440" cy="868680"/>
          </a:xfrm>
          <a:prstGeom prst="rect">
            <a:avLst/>
          </a:prstGeom>
          <a:solidFill>
            <a:srgbClr val="6B7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764024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认证 / 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764024"/>
            <a:ext cx="3931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076"/>
                </a:solidFill>
                <a:latin typeface="Microsoft YaHei"/>
                <a:ea typeface="Microsoft YaHei"/>
              </a:rPr>
              <a:t>NREL、ESTI、JET、Fraunhofer ISE 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764024"/>
            <a:ext cx="3611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076"/>
                </a:solidFill>
                <a:latin typeface="Microsoft YaHei"/>
                <a:ea typeface="Microsoft YaHei"/>
              </a:rPr>
              <a:t>提供第三方认证,是效率纪录可信度的基础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D59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晶硅龙头主导量产、初创聚焦工艺、科研机构刷新纪录,认证机构托底可信度。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代表性玩家举例,非完整名单,排名不分先后;企业动态请以最新公开信息为准。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C6EA8"/>
                </a:solidFill>
                <a:latin typeface="Arial"/>
                <a:ea typeface="Arial"/>
              </a:rPr>
              <a:t>07 ·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结构路线对比:两端(2T)与四端(4T)各有取舍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40680" cy="201168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两端 2T(单片集成)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44068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C6EA8"/>
                </a:solidFill>
                <a:latin typeface="Microsoft YaHei"/>
                <a:ea typeface="Microsoft YaHei"/>
              </a:rPr>
              <a:t>集成度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68880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高,单片串联,组件成本潜力大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72384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C6EA8"/>
                </a:solidFill>
                <a:latin typeface="Microsoft YaHei"/>
                <a:ea typeface="Microsoft YaHei"/>
              </a:rPr>
              <a:t>电流匹配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072384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必须,带隙与厚度需精确匹配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75888"/>
            <a:ext cx="544068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8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C6EA8"/>
                </a:solidFill>
                <a:latin typeface="Microsoft YaHei"/>
                <a:ea typeface="Microsoft YaHei"/>
              </a:rPr>
              <a:t>工艺难度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675888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高,顶层需在硅上共形构筑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C6EA8"/>
                </a:solidFill>
                <a:latin typeface="Microsoft YaHei"/>
                <a:ea typeface="Microsoft YaHei"/>
              </a:rPr>
              <a:t>效率纪录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279392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34.85%(主流纪录路线)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82896"/>
            <a:ext cx="544068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82896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C6EA8"/>
                </a:solidFill>
                <a:latin typeface="Microsoft YaHei"/>
                <a:ea typeface="Microsoft YaHei"/>
              </a:rPr>
              <a:t>产业倾向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8828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当前商业化主攻方向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783080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148840"/>
            <a:ext cx="5440680" cy="20116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1783080"/>
            <a:ext cx="5440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四端 4T(机械叠加)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2468880"/>
            <a:ext cx="544068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2468880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B8B"/>
                </a:solidFill>
                <a:latin typeface="Microsoft YaHei"/>
                <a:ea typeface="Microsoft YaHei"/>
              </a:rPr>
              <a:t>集成度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2468880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低,两子电池独立制备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3072384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B8B"/>
                </a:solidFill>
                <a:latin typeface="Microsoft YaHei"/>
                <a:ea typeface="Microsoft YaHei"/>
              </a:rPr>
              <a:t>电流匹配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3072384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不需要,各自独立输出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3675888"/>
            <a:ext cx="544068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675888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B8B"/>
                </a:solidFill>
                <a:latin typeface="Microsoft YaHei"/>
                <a:ea typeface="Microsoft YaHei"/>
              </a:rPr>
              <a:t>工艺难度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3675888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相对低,但需透明电极/两套电路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279392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B8B"/>
                </a:solidFill>
                <a:latin typeface="Microsoft YaHei"/>
                <a:ea typeface="Microsoft YaHei"/>
              </a:rPr>
              <a:t>效率纪录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2" y="4279392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研究灵活,但系统更复杂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82896"/>
            <a:ext cx="544068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4882896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8B8B"/>
                </a:solidFill>
                <a:latin typeface="Microsoft YaHei"/>
                <a:ea typeface="Microsoft YaHei"/>
              </a:rPr>
              <a:t>产业倾向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1272" y="488289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</a:rPr>
              <a:t>多用于研究与特定场景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C6EA8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2T 集成度高、成本潜力大,是当前产业化主流;4T 免电流匹配,更适合研究探索。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效率纪录 34.85% 为单片 2T 钙钛矿/硅叠层;路线选择应结合自有工艺与产线条件。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B8B"/>
                </a:solidFill>
                <a:latin typeface="Arial"/>
                <a:ea typeface="Arial"/>
              </a:rPr>
              <a:t>07 ·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材料路线:钙钛矿/晶硅 vs 全钙钛矿叠层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5440680" cy="36118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5440680" cy="228600"/>
          </a:xfrm>
          <a:prstGeom prst="rect">
            <a:avLst/>
          </a:prstGeom>
          <a:solidFill>
            <a:srgbClr val="2C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钙钛矿 / 晶硅叠层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</a:rPr>
              <a:t>34.85%</a:t>
            </a:r>
            <a:r>
              <a:rPr sz="1100" b="0" i="0">
                <a:solidFill>
                  <a:srgbClr val="E3ECF2"/>
                </a:solidFill>
                <a:latin typeface="Microsoft YaHei"/>
                <a:ea typeface="Microsoft YaHei"/>
              </a:rPr>
              <a:t>   当前最接近产业化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4800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底电池沿用成熟晶硅供应链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效率纪录最高、认证最充分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可借力现有硅产能与渠道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顶电池工艺与硅集成是难点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83080"/>
            <a:ext cx="5440680" cy="36118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2606040"/>
            <a:ext cx="5440680" cy="2286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90195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全钙钛矿叠层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8600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</a:rPr>
              <a:t>30.1%</a:t>
            </a:r>
            <a:r>
              <a:rPr sz="1100" b="0" i="0">
                <a:solidFill>
                  <a:srgbClr val="E3ECF2"/>
                </a:solidFill>
                <a:latin typeface="Microsoft YaHei"/>
                <a:ea typeface="Microsoft YaHei"/>
              </a:rPr>
              <a:t>   柔性/轻量化潜力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063240"/>
            <a:ext cx="4800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全溶液/薄膜,理论成本更低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可做柔性、轻质、弱光场景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窄带隙(含 Sn)稳定性是瓶颈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▪ 整体成熟度落后于钙钛矿/硅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8B8B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钙钛矿/晶硅成熟度与认证效率领先,是立项的稳妥主线;全钙钛矿适合差异化场景布局。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效率:钙钛矿/硅 34.85%、全钙钛矿叠层 30.1%(NREL/认证口径)。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D59"/>
                </a:solidFill>
                <a:latin typeface="Arial"/>
                <a:ea typeface="Arial"/>
              </a:rPr>
              <a:t>07 ·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展望与研发启示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5486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3D59"/>
                </a:solidFill>
                <a:latin typeface="Microsoft YaHei"/>
                <a:ea typeface="Microsoft YaHei"/>
              </a:rPr>
              <a:t>技术趋势判断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● 效率仍有空间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距双结理论极限 ~43% 仍有约 8 个百分点提升余地。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● 竞争焦点转向稳定性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纪录之后,长期可靠性与大面积一致性成为决胜点。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● 电池→组件→量产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工程化降效与良率,是从纪录走向产品的关键鸿沟。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</a:pPr>
            <a:r>
              <a:rPr sz="1250" b="1" i="0">
                <a:solidFill>
                  <a:srgbClr val="2C6EA8"/>
                </a:solidFill>
                <a:latin typeface="Microsoft YaHei"/>
                <a:ea typeface="Microsoft YaHei"/>
              </a:rPr>
              <a:t>● 成本与供应链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076"/>
                </a:solidFill>
                <a:latin typeface="Microsoft YaHei"/>
                <a:ea typeface="Microsoft YaHei"/>
              </a:rPr>
              <a:t>能否复用晶硅产能、控制新增材料成本决定经济性。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349240" cy="36118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965960"/>
            <a:ext cx="476402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3D59"/>
                </a:solidFill>
                <a:latin typeface="Microsoft YaHei"/>
                <a:ea typeface="Microsoft YaHei"/>
              </a:rPr>
              <a:t>对研发立项的启示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1.  以钙钛矿/晶硅 2T 为主线,锁定成熟供应链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2.  把宽带隙稳定性与界面钝化列为核心攻关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3.  尽早布局大面积均匀镀膜与封装验证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4.  建立‘认证口径 + 稳态 + 老化’的内部评测标准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5.  用 3–6 个月小试验证关键假设再决定放大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73152" cy="4572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34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D59"/>
                </a:solidFill>
                <a:latin typeface="Microsoft YaHei"/>
                <a:ea typeface="Microsoft YaHei"/>
              </a:rPr>
              <a:t>核心结论   </a:t>
            </a: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</a:rPr>
              <a:t>叠层不是要不要做的问题,而是如何在稳定性与大面积上建立差异化能力。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FA6"/>
                </a:solidFill>
                <a:latin typeface="Microsoft YaHei"/>
                <a:ea typeface="Microsoft YaHei"/>
              </a:rPr>
              <a:t>钙钛矿/晶硅叠层太阳电池 · 研究背景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9FA6"/>
                </a:solidFill>
                <a:latin typeface="Arial"/>
                <a:ea typeface="Arial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1">
                <a:solidFill>
                  <a:srgbClr val="9A9FA6"/>
                </a:solidFill>
                <a:latin typeface="Microsoft YaHei"/>
                <a:ea typeface="Microsoft YaHei"/>
              </a:rPr>
              <a:t>以上为基于公开信息的趋势研判与通用建议,具体决策需结合自有目标、设备与时间线。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88A1E"/>
                </a:solidFill>
                <a:latin typeface="Microsoft YaHei"/>
                <a:ea typeface="Microsoft YaHei"/>
              </a:rPr>
              <a:t>小结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叠层是突破单结极限的明确方向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400"/>
              </a:spcAft>
            </a:pPr>
            <a:r>
              <a:rPr sz="1400" b="0" i="0">
                <a:solidFill>
                  <a:srgbClr val="C2D3E1"/>
                </a:solidFill>
                <a:latin typeface="Microsoft YaHei"/>
                <a:ea typeface="Microsoft YaHei"/>
              </a:rPr>
              <a:t>认证效率已达 34.85%,产业化竞速已经开始;稳定性与大面积是下一阶段的胜负手。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4754880"/>
            <a:ext cx="5943600" cy="0"/>
          </a:xfrm>
          <a:prstGeom prst="bentConnector3">
            <a:avLst/>
          </a:prstGeom>
          <a:ln w="12700">
            <a:solidFill>
              <a:srgbClr val="3A5A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4983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B2C6"/>
                </a:solidFill>
                <a:latin typeface="Microsoft YaHei"/>
                <a:ea typeface="Microsoft YaHei"/>
              </a:rPr>
              <a:t>主要数据来源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8BA3B8"/>
                </a:solidFill>
                <a:latin typeface="Arial"/>
                <a:ea typeface="Arial"/>
              </a:rPr>
              <a:t>NREL Best Research-Cell Efficiency Chart · Fluxim 效率汇编 · LONGi / Oxford PV 公开信息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7E97AB"/>
                </a:solidFill>
                <a:latin typeface="Microsoft YaHei"/>
                <a:ea typeface="Microsoft YaHei"/>
              </a:rPr>
              <a:t>数据截至 2026 年 6 月,效率均以认证口径标注;约 35%(ESTI)等未公开认证数据未采用。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